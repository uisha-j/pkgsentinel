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2" r:id="rId8"/>
    <p:sldId id="261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23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FE5C-42ED-1E65-7060-27242E5D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C3110-7C43-97D9-E1F9-43BEE72AF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ABE89-A1A6-C18E-F3AA-256019EC5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FAFC1-3F65-7933-8BDC-8F9EE7547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7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AF2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시대 공급망 악성 패키지 탐지 엔진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5120640" cy="502920"/>
          </a:xfrm>
          <a:prstGeom prst="roundRect">
            <a:avLst>
              <a:gd name="adj" fmla="val 14545"/>
            </a:avLst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 Agentic Capability Manifest (</a:t>
            </a:r>
            <a:r>
              <a:rPr lang="en-US" sz="13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0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7팀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믿고 설치한 패키지가 악성코드라면?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777240"/>
          </a:xfrm>
          <a:prstGeom prst="rect">
            <a:avLst/>
          </a:prstGeom>
          <a:solidFill>
            <a:srgbClr val="FBE7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" cy="777240"/>
          </a:xfrm>
          <a:prstGeom prst="rect">
            <a:avLst/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Shai-Hulud 웜</a:t>
            </a:r>
            <a:r>
              <a:rPr lang="en-US" sz="16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믿을 만한 유명 패키지를 감염시켜 스스로 퍼졌다 (작년 npm)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272888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272888" cy="914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67919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위협 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02666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없는 패키지 이름을 지어낸다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538728"/>
            <a:ext cx="472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공격자가 그 가짜 이름을 미리 선점 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믿고 설치하면 당한다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423160"/>
            <a:ext cx="5272888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8728" y="2423160"/>
            <a:ext cx="5272888" cy="91440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53048" y="267919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위협 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3026664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에이전트 패키지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3048" y="3538728"/>
            <a:ext cx="472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실행·네트워크·비밀 읽기가 정상 기능 →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악성과 구분이 안 된다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도구는 '이미 알려진 취약점'만 </a:t>
            </a:r>
            <a:r>
              <a:rPr lang="en-US" sz="1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본다</a:t>
            </a:r>
            <a:r>
              <a:rPr lang="en-US" sz="16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r>
              <a:rPr lang="en-US" sz="16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 빈칸을 메운다.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유명해도</a:t>
            </a: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봐주지</a:t>
            </a: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“Trust by Verification”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패키지도 검사를 건너뛰지 않는다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0908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0908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event-stream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58388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58388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ua-parser-js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55868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53348" y="32918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953348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Shai-Hulud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대형 사고는 전부 유명 패키지에서 발생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인기도는 검사 </a:t>
            </a:r>
            <a:r>
              <a:rPr lang="en-US" sz="1400" dirty="0" err="1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우선순위만</a:t>
            </a:r>
            <a:r>
              <a:rPr lang="en-US" sz="14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2F25-9FCD-7007-A1F9-4B8ADA22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B93914-5096-B7A7-E195-7CB4B3541BCD}"/>
              </a:ext>
            </a:extLst>
          </p:cNvPr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79FC66-956C-B463-B264-1BEDCE67009B}"/>
              </a:ext>
            </a:extLst>
          </p:cNvPr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94244A-D976-65EC-11FE-3062A196E7B4}"/>
              </a:ext>
            </a:extLst>
          </p:cNvPr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BF26550-056B-78EB-7EB2-5DB3C8FD134B}"/>
              </a:ext>
            </a:extLst>
          </p:cNvPr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BD983B3-C734-1119-4D3E-F49E35BC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789" y="1481624"/>
            <a:ext cx="7156421" cy="45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3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비설치</a:t>
            </a:r>
            <a:r>
              <a:rPr lang="ko-KR" alt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r>
              <a:rPr lang="ko-KR" alt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검사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 악성인지 대조 (22만+ 위협 DB)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11096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0080" y="1911096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91109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1109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 소스 추출 + 에이전트 판별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496312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4963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실제로 하는 행동을 순서대로 추출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081528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081528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08152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 공격 수법과 비교 (패턴 매칭)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666744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666744"/>
            <a:ext cx="640080" cy="47548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667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66674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한 번 더 ‘정말 악의적인가’ 판단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2519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· 바이너리 · 샌드박스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837176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0080" y="4837176"/>
            <a:ext cx="640080" cy="47548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483717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483717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판정 + 표준 출력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0" y="13258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69680" y="1920240"/>
            <a:ext cx="2681935" cy="548640"/>
          </a:xfrm>
          <a:prstGeom prst="roundRect">
            <a:avLst>
              <a:gd name="adj" fmla="val 13333"/>
            </a:avLst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869680" y="1920240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69680" y="2633472"/>
            <a:ext cx="2681935" cy="548640"/>
          </a:xfrm>
          <a:prstGeom prst="roundRect">
            <a:avLst>
              <a:gd name="adj" fmla="val 13333"/>
            </a:avLst>
          </a:prstGeom>
          <a:solidFill>
            <a:srgbClr val="E88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869680" y="2633472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3346704"/>
            <a:ext cx="2681935" cy="548640"/>
          </a:xfrm>
          <a:prstGeom prst="roundRect">
            <a:avLst>
              <a:gd name="adj" fmla="val 13333"/>
            </a:avLst>
          </a:prstGeom>
          <a:solidFill>
            <a:srgbClr val="D8A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869680" y="3346704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869680" y="4059936"/>
            <a:ext cx="2681935" cy="548640"/>
          </a:xfrm>
          <a:prstGeom prst="roundRect">
            <a:avLst>
              <a:gd name="adj" fmla="val 13333"/>
            </a:avLst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869680" y="4059936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만든 게 아닙니다 — 권위 있는 기반 위에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한계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권위 있는 기반으로 메움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297680" cy="841248"/>
          </a:xfrm>
          <a:prstGeom prst="rect">
            <a:avLst/>
          </a:prstGeom>
          <a:solidFill>
            <a:srgbClr val="E9D4D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 지식 부재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8288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56692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91440" cy="84124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MITRE — 세계 표준 공격 지식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4297680" cy="841248"/>
          </a:xfrm>
          <a:prstGeom prst="rect">
            <a:avLst/>
          </a:prstGeom>
          <a:solidFill>
            <a:srgbClr val="E9D4D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</a:t>
            </a: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악</a:t>
            </a:r>
            <a:r>
              <a:rPr lang="ko-KR" alt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 자료 필요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83464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2834640"/>
            <a:ext cx="56692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0" y="2834640"/>
            <a:ext cx="91440" cy="84124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0" y="28346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OSV — 공개 보안 데이터베이스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840480"/>
            <a:ext cx="4297680" cy="841248"/>
          </a:xfrm>
          <a:prstGeom prst="rect">
            <a:avLst/>
          </a:prstGeom>
          <a:solidFill>
            <a:srgbClr val="E9D4D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/>
              <a:t>Agentic</a:t>
            </a:r>
            <a:r>
              <a:rPr lang="ko-KR" altLang="en-US" sz="1500" dirty="0"/>
              <a:t>한 패키지 검증 필요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8404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0" y="3840480"/>
            <a:ext cx="56692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86400" y="3840480"/>
            <a:ext cx="91440" cy="84124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760720" y="384048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AI 모델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4297680" cy="841248"/>
          </a:xfrm>
          <a:prstGeom prst="rect">
            <a:avLst/>
          </a:prstGeom>
          <a:solidFill>
            <a:srgbClr val="E9D4D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868680" y="48463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Testcase </a:t>
            </a:r>
            <a:r>
              <a:rPr lang="ko-KR" altLang="en-US" sz="1500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과적합</a:t>
            </a:r>
            <a:r>
              <a:rPr lang="ko-KR" alt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타파</a:t>
            </a: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48463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0" y="4846320"/>
            <a:ext cx="56692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86400" y="4846320"/>
            <a:ext cx="91440" cy="84124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60720" y="484632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DataDog — 외부 검증 데이터셋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자작이 아닌 외부 검증 데이터 543개로 측정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0888" y="2194560"/>
            <a:ext cx="3291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00888" y="2194560"/>
            <a:ext cx="3291840" cy="109728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00888" y="2606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80%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83768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패키지 탐지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49928" y="2194560"/>
            <a:ext cx="3291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49928" y="2194560"/>
            <a:ext cx="3291840" cy="109728"/>
          </a:xfrm>
          <a:prstGeom prst="rect">
            <a:avLst/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49928" y="2606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632808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감염 사고 탐지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98968" y="2194560"/>
            <a:ext cx="3291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98968" y="2194560"/>
            <a:ext cx="3291840" cy="1097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198968" y="2606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+9%p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81848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판단 추가 시 덜 놓침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완벽하진 않다 — 하지만 어디서 놓치는지를 정확히 안다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</a:t>
            </a: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돌려봤습니다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A0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데모 영상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2267712"/>
            <a:ext cx="9539935" cy="420624"/>
          </a:xfrm>
          <a:prstGeom prst="rect">
            <a:avLst/>
          </a:prstGeom>
          <a:solidFill>
            <a:srgbClr val="16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48840" y="2267712"/>
            <a:ext cx="9082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Shai-Hulud에 감염됐던 실제 패키지 검사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18688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3218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0:12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3291840"/>
            <a:ext cx="9539935" cy="420624"/>
          </a:xfrm>
          <a:prstGeom prst="rect">
            <a:avLst/>
          </a:prstGeom>
          <a:solidFill>
            <a:srgbClr val="16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48840" y="3291840"/>
            <a:ext cx="9082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판정 + 근거(행위·공격수법) 표시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42816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242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4315968"/>
            <a:ext cx="9539935" cy="420624"/>
          </a:xfrm>
          <a:prstGeom prst="rect">
            <a:avLst/>
          </a:prstGeom>
          <a:solidFill>
            <a:srgbClr val="16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148840" y="4315968"/>
            <a:ext cx="9082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서명돼 보안 관제 서버로 실시간 전달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266944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5266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0:52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5340096"/>
            <a:ext cx="9539935" cy="420624"/>
          </a:xfrm>
          <a:prstGeom prst="rect">
            <a:avLst/>
          </a:prstGeom>
          <a:solidFill>
            <a:srgbClr val="16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48840" y="5340096"/>
            <a:ext cx="9082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패키지는 통과(CLEAN)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Shai-</a:t>
            </a:r>
            <a:r>
              <a:rPr lang="en-US" sz="2600" b="1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Hulud</a:t>
            </a: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81448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181448" cy="1097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엔진 (원칙 적용)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23/25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 패키지 92% 탐지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1645920"/>
            <a:ext cx="5181448" cy="3108960"/>
          </a:xfrm>
          <a:prstGeom prst="rect">
            <a:avLst/>
          </a:prstGeom>
          <a:solidFill>
            <a:srgbClr val="E9D4D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70168" y="1645920"/>
            <a:ext cx="5181448" cy="109728"/>
          </a:xfrm>
          <a:prstGeom prst="rect">
            <a:avLst/>
          </a:prstGeom>
          <a:solidFill>
            <a:srgbClr val="E23D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70168" y="196596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‘유명하면 봐주기’ 규칙을 켜면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0168" y="242316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2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644488" y="3657600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유명 패키지 3개가 정상으로 둔갑 → 놓침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유명하다고 봐주면, 정작 감염된 유명 패키지를 놓친다 — 데이터가 증명했다.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566928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69264" y="457200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걸음 더: 투명성 표준 제안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Capability Manifest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패키지가 어떤 위험 기능을 쓸지, 설치 전에 미리 적어두자”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3728" y="274320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3728" y="2743200"/>
            <a:ext cx="3200400" cy="91440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3728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660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작성자가 적어둔 위험 기능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09848" y="27432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95648" y="274320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95648" y="2743200"/>
            <a:ext cx="3200400" cy="91440"/>
          </a:xfrm>
          <a:prstGeom prst="rect">
            <a:avLst/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95648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50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852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엔진이 탐지한 실제 행동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41768" y="27432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427568" y="274320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1A2B3C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27568" y="2743200"/>
            <a:ext cx="3200400" cy="91440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427568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1044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= 미선언 위험 탐지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solidFill>
            <a:srgbClr val="FBF1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109728" cy="91440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60120" y="4389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만능 통제가 아니다 </a:t>
            </a: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작성자가 거짓 선언할 수 있다. 그래서 이 </a:t>
            </a:r>
            <a:r>
              <a:rPr lang="en-US" sz="1400" dirty="0" err="1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</a:t>
            </a: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전제하고</a:t>
            </a: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강제 규칙이 아닌 </a:t>
            </a:r>
            <a:r>
              <a:rPr lang="en-US" sz="1400" b="1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‘제안’</a:t>
            </a:r>
            <a:r>
              <a:rPr lang="en-US" sz="1400" dirty="0">
                <a:solidFill>
                  <a:srgbClr val="142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낸다.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AF2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r>
              <a:rPr lang="en-US" sz="1500" b="1" dirty="0">
                <a:solidFill>
                  <a:srgbClr val="EAF2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1500" dirty="0">
                <a:solidFill>
                  <a:srgbClr val="B9CC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 없는 패키지는 코드만으론 약함 → 알려진 악성 목록이 보완 / 서명 표준은 향후 과제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0728655" cy="1554480"/>
          </a:xfrm>
          <a:prstGeom prst="rect">
            <a:avLst/>
          </a:prstGeom>
          <a:solidFill>
            <a:srgbClr val="16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91440" cy="1554480"/>
          </a:xfrm>
          <a:prstGeom prst="rect">
            <a:avLst/>
          </a:prstGeom>
          <a:solidFill>
            <a:srgbClr val="1FA9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A9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및 달성 사항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</a:t>
            </a:r>
            <a:r>
              <a:rPr lang="en-US" sz="20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</a:t>
            </a: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엔진</a:t>
            </a: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+  설치 전 기계검증 가능한 </a:t>
            </a: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capability manifest 제안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350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 공개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pkgsentinel · 7팀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E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530</Words>
  <Application>Microsoft Office PowerPoint</Application>
  <PresentationFormat>와이드스크린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pkgsentinel 10분 발표</dc:title>
  <dc:subject>PptxGenJS Presentation</dc:subject>
  <dc:creator>7팀</dc:creator>
  <cp:lastModifiedBy>김의재</cp:lastModifiedBy>
  <cp:revision>3</cp:revision>
  <dcterms:created xsi:type="dcterms:W3CDTF">2026-05-28T00:46:01Z</dcterms:created>
  <dcterms:modified xsi:type="dcterms:W3CDTF">2026-05-28T02:48:54Z</dcterms:modified>
</cp:coreProperties>
</file>